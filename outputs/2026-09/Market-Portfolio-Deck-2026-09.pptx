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message. In September 2026 the hypothetical 60/40 portfolio returned −0.57% in Canadian dollars and the benchmark returned −0.50%. Bonds subtracted 0.54 pp, about 95% of the decline, while equities were roughly flat because US and emerging-market gains offset losses in Canada and developed international markets. The theme is rates: the Fed raised its range to 3-3/4 to 4 percent on September 16 and Canada's 2-year yield rose +36 bp. Bank of Canada series end on Sep 29 because September 30 was a federal holiday. For a client: higher yields pushed bond prices down, and Canadian stocks fell as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Portfolio implications. The equity sleeve was flat but dispersion was wide. The bond sleeve fell −1.36%, and the short-term fund held up better than the broad index. The illustrative rule says maintain: the largest drift is 0.69 pp, inside the 1.5 pp band, and a reset would trade 0.97% of the portfolio. Weights this month began from August's drifted weights because August's decision was Maintain. This illustrates a rule, not advice for any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and monitoring. More yield increases would extend bond losses; the Bank of Canada says upside inflation risks increased and tariffs add uncertainty to growth. XHY fell −3.07%, a reminder that credit can weaken with equities. Next events: the Bank of Canada decision and Monetary Policy Report on October 28 and the FOMC meeting on October 27 and 28. The counterargument is to shorten bond duration now; the case for patience is that drift is small and selling after a decline locks in the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1323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15324F"/>
                </a:solidFill>
                <a:latin typeface="Inter Tabular"/>
              </a:rPr>
              <a:t>INDEPENDENT EDUCATIONAL RESEARCH SAMPLE  |  HYPOTHETICAL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228600"/>
            <a:ext cx="4251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Market &amp; Portfolio Report  | 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928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5324F"/>
                </a:solidFill>
                <a:latin typeface="Inter Tabular"/>
              </a:rPr>
              <a:t>Rising rates hit bonds and credit in September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92840" cy="18288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Sources: [1] Yahoo Finance; [2] Bank of Canada Valet. Full references in the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1 / 3</a:t>
            </a:r>
          </a:p>
        </p:txBody>
      </p:sp>
      <p:pic>
        <p:nvPicPr>
          <p:cNvPr id="8" name="Picture 7" descr="Line chart: cumulative total return of the hypothetical portfolio and benchmark, September 20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949440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532120"/>
            <a:ext cx="69494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Cumulative total return since the Aug 31 close, CAD. Daily closes.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554480"/>
            <a:ext cx="129844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35824" y="1664207"/>
            <a:ext cx="118871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5324F"/>
                </a:solidFill>
                <a:latin typeface="Inter Tabular"/>
              </a:rPr>
              <a:t>−0.57%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176272"/>
            <a:ext cx="115214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Portfolio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70848" y="1554480"/>
            <a:ext cx="129844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5712" y="1664207"/>
            <a:ext cx="118871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5324F"/>
                </a:solidFill>
                <a:latin typeface="Inter Tabular"/>
              </a:rPr>
              <a:t>−0.50%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176272"/>
            <a:ext cx="115214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Benchmark (VBAL)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60736" y="1554480"/>
            <a:ext cx="129844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0" y="1664207"/>
            <a:ext cx="118871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5324F"/>
                </a:solidFill>
                <a:latin typeface="Inter Tabular"/>
              </a:rPr>
              <a:t>−0.06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33888" y="2176272"/>
            <a:ext cx="115214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Difference (pp)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926080"/>
            <a:ext cx="406908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1200"/>
              </a:spcAft>
              <a:buChar char="•"/>
            </a:pPr>
            <a:r>
              <a:rPr sz="1800" b="0">
                <a:solidFill>
                  <a:srgbClr val="0F172A"/>
                </a:solidFill>
                <a:latin typeface="Inter Tabular"/>
              </a:rPr>
              <a:t>Portfolio −0.57% versus benchmark −0.50%, a difference of −0.06 pp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1800" b="0">
                <a:solidFill>
                  <a:srgbClr val="0F172A"/>
                </a:solidFill>
                <a:latin typeface="Inter Tabular"/>
              </a:rPr>
              <a:t>Bonds subtracted 0.54 pp; equities were flat at −0.03 pp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1800" b="0">
                <a:solidFill>
                  <a:srgbClr val="0F172A"/>
                </a:solidFill>
                <a:latin typeface="Inter Tabular"/>
              </a:rPr>
              <a:t>Theme: Fed raised to 3-3/4 to 4 percent; Canada 2-year yield +36 bp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1323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15324F"/>
                </a:solidFill>
                <a:latin typeface="Inter Tabular"/>
              </a:rPr>
              <a:t>INDEPENDENT EDUCATIONAL RESEARCH SAMPLE  |  HYPOTHETICAL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228600"/>
            <a:ext cx="4251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Market &amp; Portfolio Report  | 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928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5324F"/>
                </a:solidFill>
                <a:latin typeface="Inter Tabular"/>
              </a:rPr>
              <a:t>Implications: maintain weights, drift is inside the bands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92840" cy="18288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Sources: [1] Yahoo Finance; [2] Bank of Canada Valet. Full references in the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2 / 3</a:t>
            </a:r>
          </a:p>
        </p:txBody>
      </p:sp>
      <p:pic>
        <p:nvPicPr>
          <p:cNvPr id="8" name="Picture 7" descr="Bar chart: contribution to portfolio return by holding in percentage points, September 20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486400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532120"/>
            <a:ext cx="54864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Contribution = start weight x total return, in percentage points.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27632"/>
            <a:ext cx="2011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5324F"/>
                </a:solidFill>
                <a:latin typeface="Inter Tabular"/>
              </a:rPr>
              <a:t>Maintain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52120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Inter Tabular"/>
              </a:rPr>
              <a:t>Equity 60.5% to 60.8%; fixed income 39.5% to 39.2%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71800"/>
            <a:ext cx="544068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1200"/>
              </a:spcAft>
              <a:buChar char="•"/>
            </a:pPr>
            <a:r>
              <a:rPr sz="1800" b="0">
                <a:solidFill>
                  <a:srgbClr val="0F172A"/>
                </a:solidFill>
                <a:latin typeface="Inter Tabular"/>
              </a:rPr>
              <a:t>Equity: US +1.93% and emerging +2.07% rose; Canada −2.65% fell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1800" b="0">
                <a:solidFill>
                  <a:srgbClr val="0F172A"/>
                </a:solidFill>
                <a:latin typeface="Inter Tabular"/>
              </a:rPr>
              <a:t>Fixed income: sleeve −1.36%; short-term bonds fell less than the broad fund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1800" b="0">
                <a:solidFill>
                  <a:srgbClr val="0F172A"/>
                </a:solidFill>
                <a:latin typeface="Inter Tabular"/>
              </a:rPr>
              <a:t>Decision: Maintain. Largest drift 0.69 pp against a 1.5 pp band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1323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15324F"/>
                </a:solidFill>
                <a:latin typeface="Inter Tabular"/>
              </a:rPr>
              <a:t>INDEPENDENT EDUCATIONAL RESEARCH SAMPLE  |  HYPOTHETICAL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228600"/>
            <a:ext cx="4251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Market &amp; Portfolio Report  | 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928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5324F"/>
                </a:solidFill>
                <a:latin typeface="Inter Tabular"/>
              </a:rPr>
              <a:t>Risks and what to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92840" cy="18288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Sources: [1] Yahoo Finance; [2] Bank of Canada Valet; [3] Bank of Canada; [4] Federal Reserve Board. Full references in the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3 /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5324F"/>
                </a:solidFill>
                <a:latin typeface="Inter Tabular"/>
              </a:rPr>
              <a:t>Downside 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1200"/>
              </a:spcAft>
              <a:buChar char="•"/>
            </a:pPr>
            <a:r>
              <a:rPr sz="2000" b="0">
                <a:solidFill>
                  <a:srgbClr val="0F172A"/>
                </a:solidFill>
                <a:latin typeface="Inter Tabular"/>
              </a:rPr>
              <a:t>More yield increases would extend bond losses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2000" b="0">
                <a:solidFill>
                  <a:srgbClr val="0F172A"/>
                </a:solidFill>
                <a:latin typeface="Inter Tabular"/>
              </a:rPr>
              <a:t>US tariffs and counter-measures cloud growth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2000" b="0">
                <a:solidFill>
                  <a:srgbClr val="0F172A"/>
                </a:solidFill>
                <a:latin typeface="Inter Tabular"/>
              </a:rPr>
              <a:t>Credit weakness: XHY −3.07%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2000" b="0">
                <a:solidFill>
                  <a:srgbClr val="0F172A"/>
                </a:solidFill>
                <a:latin typeface="Inter Tabular"/>
              </a:rPr>
              <a:t>Currency reversal on foreign equity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5440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5324F"/>
                </a:solidFill>
                <a:latin typeface="Inter Tabular"/>
              </a:rPr>
              <a:t>What to monitor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57400"/>
            <a:ext cx="544068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1200"/>
              </a:spcAft>
              <a:buChar char="•"/>
            </a:pPr>
            <a:r>
              <a:rPr sz="2000" b="0">
                <a:solidFill>
                  <a:srgbClr val="0F172A"/>
                </a:solidFill>
                <a:latin typeface="Inter Tabular"/>
              </a:rPr>
              <a:t>Bank of Canada and MPR, Oct 28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2000" b="0">
                <a:solidFill>
                  <a:srgbClr val="0F172A"/>
                </a:solidFill>
                <a:latin typeface="Inter Tabular"/>
              </a:rPr>
              <a:t>FOMC, Oct 27-28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2000" b="0">
                <a:solidFill>
                  <a:srgbClr val="0F172A"/>
                </a:solidFill>
                <a:latin typeface="Inter Tabular"/>
              </a:rPr>
              <a:t>Canada yields and USD/CAD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2000" b="0">
                <a:solidFill>
                  <a:srgbClr val="0F172A"/>
                </a:solidFill>
                <a:latin typeface="Inter Tabular"/>
              </a:rPr>
              <a:t>XHY and credit conditions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92040"/>
            <a:ext cx="112928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1092708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5324F"/>
                </a:solidFill>
                <a:latin typeface="Inter Tabular"/>
              </a:rPr>
              <a:t>Counterargument.  </a:t>
            </a:r>
            <a:r>
              <a:rPr sz="1700" b="0">
                <a:solidFill>
                  <a:srgbClr val="0F172A"/>
                </a:solidFill>
                <a:latin typeface="Inter Tabular"/>
              </a:rPr>
              <a:t>For acting: the Federal Reserve is tightening; moving part of XBB into XSB would lower rate sensitivity. For patience: drift is inside the bands, and selling bonds after a decline locks in the loss without evidence of where yields go next.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&amp; Portfolio Report, September 2026: deck</dc:title>
  <dc:subject>Hypothetical portfolio; not investment advice</dc:subject>
  <dc:creator>Independent educational research sample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