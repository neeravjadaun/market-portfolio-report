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Main message. In August 2026 the hypothetical 60/40 portfolio returned +1.30% in Canadian dollars and the benchmark returned +1.20%. Equities contributed +1.30 pp and bonds 0.00 pp. The chart shows cumulative total return from the July 31 close. The theme is currency: USD/CAD fell from 1.4029 to 1.3866, which trims what unhedged foreign equities earn for a Canadian investor. For a client: stocks rose, bonds were flat, and a stronger Canadian dollar took a little off foreign holdings. Sources are the exchange closes and Bank of Canada series listed in the report.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Portfolio implications. Canadian equities and emerging markets led. The equity sleeve ended at 60.5% against a 60% target. Bond yields rose modestly, so price losses on the broad bond fund were mostly offset by distributions. The illustrative rule says maintain: the largest drift is 0.37 pp, inside the 1.5 pp band. Resetting to target would trade 0.55% of the portfolio. This is an illustration of a rule, not advice for any client.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Risks and monitoring. Rates are the main risk: three FOMC members preferred a rise on July 29 and Canadian yields moved up in August. Currency risk is two-way. The Bank of Canada has flagged the Middle East war and US trade policy. Next events: the Bank of Canada decision on September 2 and the FOMC meeting on September 15 and 16. The counterargument is that a more defensive investor could act now; the case for patience is that drift is small and one month of yields is weak evidence.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7132320" cy="3200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800"/>
              </a:spcAft>
            </a:pPr>
            <a:r>
              <a:rPr sz="1200" b="1">
                <a:solidFill>
                  <a:srgbClr val="15324F"/>
                </a:solidFill>
                <a:latin typeface="Inter Tabular"/>
              </a:rPr>
              <a:t>INDEPENDENT EDUCATIONAL RESEARCH SAMPLE  |  HYPOTHETICAL PORTFOLIO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498079" y="228600"/>
            <a:ext cx="4251960" cy="3200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spcAft>
                <a:spcPts val="800"/>
              </a:spcAft>
            </a:pPr>
            <a:r>
              <a:rPr sz="1200" b="0">
                <a:solidFill>
                  <a:srgbClr val="475569"/>
                </a:solidFill>
                <a:latin typeface="Inter Tabular"/>
              </a:rPr>
              <a:t>Market &amp; Portfolio Report  |  August 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66928"/>
            <a:ext cx="11292840" cy="77724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spcAft>
                <a:spcPts val="800"/>
              </a:spcAft>
            </a:pPr>
            <a:r>
              <a:rPr sz="3000" b="1">
                <a:solidFill>
                  <a:srgbClr val="15324F"/>
                </a:solidFill>
                <a:latin typeface="Inter Tabular"/>
              </a:rPr>
              <a:t>Equities led and bonds stood still in August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371600"/>
            <a:ext cx="11292840" cy="18288"/>
          </a:xfrm>
          <a:prstGeom prst="rect">
            <a:avLst/>
          </a:prstGeom>
          <a:solidFill>
            <a:srgbClr val="E2E8F0"/>
          </a:solidFill>
          <a:ln w="9525">
            <a:solidFill>
              <a:srgbClr val="E2E8F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355080"/>
            <a:ext cx="104241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800"/>
              </a:spcAft>
            </a:pPr>
            <a:r>
              <a:rPr sz="1200" b="0">
                <a:solidFill>
                  <a:srgbClr val="475569"/>
                </a:solidFill>
                <a:latin typeface="Inter Tabular"/>
              </a:rPr>
              <a:t>Sources: [1] Yahoo Finance; [2] Bank of Canada Valet. Full references in the report.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355080"/>
            <a:ext cx="77724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spcAft>
                <a:spcPts val="800"/>
              </a:spcAft>
            </a:pPr>
            <a:r>
              <a:rPr sz="1200" b="0">
                <a:solidFill>
                  <a:srgbClr val="475569"/>
                </a:solidFill>
                <a:latin typeface="Inter Tabular"/>
              </a:rPr>
              <a:t>1 / 3</a:t>
            </a:r>
          </a:p>
        </p:txBody>
      </p:sp>
      <p:pic>
        <p:nvPicPr>
          <p:cNvPr id="8" name="Picture 7" descr="Line chart: cumulative total return of the hypothetical portfolio and benchmark, August 202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554480"/>
            <a:ext cx="6949440" cy="393192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457200" y="5532120"/>
            <a:ext cx="6949440" cy="7315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800"/>
              </a:spcAft>
            </a:pPr>
            <a:r>
              <a:rPr sz="1200" b="0">
                <a:solidFill>
                  <a:srgbClr val="475569"/>
                </a:solidFill>
                <a:latin typeface="Inter Tabular"/>
              </a:rPr>
              <a:t>Cumulative total return since the Jul 31 close, CAD. Daily closes.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7680960" y="1554480"/>
            <a:ext cx="1298448" cy="114300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735824" y="1664207"/>
            <a:ext cx="1188719" cy="4572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800"/>
              </a:spcAft>
            </a:pPr>
            <a:r>
              <a:rPr sz="2000" b="1">
                <a:solidFill>
                  <a:srgbClr val="15324F"/>
                </a:solidFill>
                <a:latin typeface="Inter Tabular"/>
              </a:rPr>
              <a:t>+1.30%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54112" y="2176272"/>
            <a:ext cx="1152144" cy="5029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800"/>
              </a:spcAft>
            </a:pPr>
            <a:r>
              <a:rPr sz="1200" b="0">
                <a:solidFill>
                  <a:srgbClr val="475569"/>
                </a:solidFill>
                <a:latin typeface="Inter Tabular"/>
              </a:rPr>
              <a:t>Portfolio</a:t>
            </a:r>
          </a:p>
        </p:txBody>
      </p:sp>
      <p:sp>
        <p:nvSpPr>
          <p:cNvPr id="13" name="Rectangle 12"/>
          <p:cNvSpPr/>
          <p:nvPr/>
        </p:nvSpPr>
        <p:spPr>
          <a:xfrm>
            <a:off x="9070848" y="1554480"/>
            <a:ext cx="1298448" cy="114300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125712" y="1664207"/>
            <a:ext cx="1188719" cy="4572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800"/>
              </a:spcAft>
            </a:pPr>
            <a:r>
              <a:rPr sz="2000" b="1">
                <a:solidFill>
                  <a:srgbClr val="15324F"/>
                </a:solidFill>
                <a:latin typeface="Inter Tabular"/>
              </a:rPr>
              <a:t>+1.20%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0" y="2176272"/>
            <a:ext cx="1152144" cy="5029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800"/>
              </a:spcAft>
            </a:pPr>
            <a:r>
              <a:rPr sz="1200" b="0">
                <a:solidFill>
                  <a:srgbClr val="475569"/>
                </a:solidFill>
                <a:latin typeface="Inter Tabular"/>
              </a:rPr>
              <a:t>Benchmark (VBAL)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0460736" y="1554480"/>
            <a:ext cx="1298448" cy="114300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515600" y="1664207"/>
            <a:ext cx="1188719" cy="4572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800"/>
              </a:spcAft>
            </a:pPr>
            <a:r>
              <a:rPr sz="2000" b="1">
                <a:solidFill>
                  <a:srgbClr val="15324F"/>
                </a:solidFill>
                <a:latin typeface="Inter Tabular"/>
              </a:rPr>
              <a:t>+0.10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533888" y="2176272"/>
            <a:ext cx="1152144" cy="5029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800"/>
              </a:spcAft>
            </a:pPr>
            <a:r>
              <a:rPr sz="1200" b="0">
                <a:solidFill>
                  <a:srgbClr val="475569"/>
                </a:solidFill>
                <a:latin typeface="Inter Tabular"/>
              </a:rPr>
              <a:t>Difference (pp)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680960" y="2926080"/>
            <a:ext cx="4069080" cy="32918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 marL="256032" indent="-256032">
              <a:spcAft>
                <a:spcPts val="1200"/>
              </a:spcAft>
              <a:buChar char="•"/>
            </a:pPr>
            <a:r>
              <a:rPr sz="1800" b="0">
                <a:solidFill>
                  <a:srgbClr val="0F172A"/>
                </a:solidFill>
                <a:latin typeface="Inter Tabular"/>
              </a:rPr>
              <a:t>Portfolio +1.30% versus benchmark +1.20%, a difference of +0.10 pp</a:t>
            </a:r>
          </a:p>
          <a:p>
            <a:pPr algn="l" marL="256032" indent="-256032">
              <a:spcAft>
                <a:spcPts val="1200"/>
              </a:spcAft>
              <a:buChar char="•"/>
            </a:pPr>
            <a:r>
              <a:rPr sz="1800" b="0">
                <a:solidFill>
                  <a:srgbClr val="0F172A"/>
                </a:solidFill>
                <a:latin typeface="Inter Tabular"/>
              </a:rPr>
              <a:t>Equities added +1.30 pp; bonds added 0.00 pp</a:t>
            </a:r>
          </a:p>
          <a:p>
            <a:pPr algn="l" marL="256032" indent="-256032">
              <a:spcAft>
                <a:spcPts val="1200"/>
              </a:spcAft>
              <a:buChar char="•"/>
            </a:pPr>
            <a:r>
              <a:rPr sz="1800" b="0">
                <a:solidFill>
                  <a:srgbClr val="0F172A"/>
                </a:solidFill>
                <a:latin typeface="Inter Tabular"/>
              </a:rPr>
              <a:t>Theme: USD/CAD fell 1.16%, trimming gains on unhedged foreign equities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7132320" cy="3200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800"/>
              </a:spcAft>
            </a:pPr>
            <a:r>
              <a:rPr sz="1200" b="1">
                <a:solidFill>
                  <a:srgbClr val="15324F"/>
                </a:solidFill>
                <a:latin typeface="Inter Tabular"/>
              </a:rPr>
              <a:t>INDEPENDENT EDUCATIONAL RESEARCH SAMPLE  |  HYPOTHETICAL PORTFOLIO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498079" y="228600"/>
            <a:ext cx="4251960" cy="3200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spcAft>
                <a:spcPts val="800"/>
              </a:spcAft>
            </a:pPr>
            <a:r>
              <a:rPr sz="1200" b="0">
                <a:solidFill>
                  <a:srgbClr val="475569"/>
                </a:solidFill>
                <a:latin typeface="Inter Tabular"/>
              </a:rPr>
              <a:t>Market &amp; Portfolio Report  |  August 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66928"/>
            <a:ext cx="11292840" cy="77724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spcAft>
                <a:spcPts val="800"/>
              </a:spcAft>
            </a:pPr>
            <a:r>
              <a:rPr sz="3000" b="1">
                <a:solidFill>
                  <a:srgbClr val="15324F"/>
                </a:solidFill>
                <a:latin typeface="Inter Tabular"/>
              </a:rPr>
              <a:t>Implications: maintain weights, drift is inside the bands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371600"/>
            <a:ext cx="11292840" cy="18288"/>
          </a:xfrm>
          <a:prstGeom prst="rect">
            <a:avLst/>
          </a:prstGeom>
          <a:solidFill>
            <a:srgbClr val="E2E8F0"/>
          </a:solidFill>
          <a:ln w="9525">
            <a:solidFill>
              <a:srgbClr val="E2E8F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355080"/>
            <a:ext cx="104241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800"/>
              </a:spcAft>
            </a:pPr>
            <a:r>
              <a:rPr sz="1200" b="0">
                <a:solidFill>
                  <a:srgbClr val="475569"/>
                </a:solidFill>
                <a:latin typeface="Inter Tabular"/>
              </a:rPr>
              <a:t>Sources: [1] Yahoo Finance; [2] Bank of Canada Valet. Full references in the report.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355080"/>
            <a:ext cx="77724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spcAft>
                <a:spcPts val="800"/>
              </a:spcAft>
            </a:pPr>
            <a:r>
              <a:rPr sz="1200" b="0">
                <a:solidFill>
                  <a:srgbClr val="475569"/>
                </a:solidFill>
                <a:latin typeface="Inter Tabular"/>
              </a:rPr>
              <a:t>2 / 3</a:t>
            </a:r>
          </a:p>
        </p:txBody>
      </p:sp>
      <p:pic>
        <p:nvPicPr>
          <p:cNvPr id="8" name="Picture 7" descr="Bar chart: contribution to portfolio return by holding in percentage points, August 202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554480"/>
            <a:ext cx="5486400" cy="393192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457200" y="5532120"/>
            <a:ext cx="5486400" cy="7315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800"/>
              </a:spcAft>
            </a:pPr>
            <a:r>
              <a:rPr sz="1200" b="0">
                <a:solidFill>
                  <a:srgbClr val="475569"/>
                </a:solidFill>
                <a:latin typeface="Inter Tabular"/>
              </a:rPr>
              <a:t>Contribution = start weight x total return, in percentage points.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309360" y="1554480"/>
            <a:ext cx="5440680" cy="118872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46520" y="1627632"/>
            <a:ext cx="2011680" cy="5486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800"/>
              </a:spcAft>
            </a:pPr>
            <a:r>
              <a:rPr sz="2800" b="1">
                <a:solidFill>
                  <a:srgbClr val="15324F"/>
                </a:solidFill>
                <a:latin typeface="Inter Tabular"/>
              </a:rPr>
              <a:t>Maintain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46520" y="2194560"/>
            <a:ext cx="5212080" cy="5486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800"/>
              </a:spcAft>
            </a:pPr>
            <a:r>
              <a:rPr sz="1400" b="0">
                <a:solidFill>
                  <a:srgbClr val="475569"/>
                </a:solidFill>
                <a:latin typeface="Inter Tabular"/>
              </a:rPr>
              <a:t>Equity 60.0% to 60.5%; fixed income 40.0% to 39.5%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09360" y="2971800"/>
            <a:ext cx="5440680" cy="32918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 marL="256032" indent="-256032">
              <a:spcAft>
                <a:spcPts val="1200"/>
              </a:spcAft>
              <a:buChar char="•"/>
            </a:pPr>
            <a:r>
              <a:rPr sz="1800" b="0">
                <a:solidFill>
                  <a:srgbClr val="0F172A"/>
                </a:solidFill>
                <a:latin typeface="Inter Tabular"/>
              </a:rPr>
              <a:t>Equity: Canada +3.06% and emerging markets +4.22% led; sleeve ended at 60.5%</a:t>
            </a:r>
          </a:p>
          <a:p>
            <a:pPr algn="l" marL="256032" indent="-256032">
              <a:spcAft>
                <a:spcPts val="1200"/>
              </a:spcAft>
              <a:buChar char="•"/>
            </a:pPr>
            <a:r>
              <a:rPr sz="1800" b="0">
                <a:solidFill>
                  <a:srgbClr val="0F172A"/>
                </a:solidFill>
                <a:latin typeface="Inter Tabular"/>
              </a:rPr>
              <a:t>Fixed income: 2-year yield +10 bp, 10-year +8 bp; sleeve flat at −0.01%</a:t>
            </a:r>
          </a:p>
          <a:p>
            <a:pPr algn="l" marL="256032" indent="-256032">
              <a:spcAft>
                <a:spcPts val="1200"/>
              </a:spcAft>
              <a:buChar char="•"/>
            </a:pPr>
            <a:r>
              <a:rPr sz="1800" b="0">
                <a:solidFill>
                  <a:srgbClr val="0F172A"/>
                </a:solidFill>
                <a:latin typeface="Inter Tabular"/>
              </a:rPr>
              <a:t>Decision: Maintain. Largest drift 0.37 pp against a 1.5 pp band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7132320" cy="3200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800"/>
              </a:spcAft>
            </a:pPr>
            <a:r>
              <a:rPr sz="1200" b="1">
                <a:solidFill>
                  <a:srgbClr val="15324F"/>
                </a:solidFill>
                <a:latin typeface="Inter Tabular"/>
              </a:rPr>
              <a:t>INDEPENDENT EDUCATIONAL RESEARCH SAMPLE  |  HYPOTHETICAL PORTFOLIO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498079" y="228600"/>
            <a:ext cx="4251960" cy="3200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spcAft>
                <a:spcPts val="800"/>
              </a:spcAft>
            </a:pPr>
            <a:r>
              <a:rPr sz="1200" b="0">
                <a:solidFill>
                  <a:srgbClr val="475569"/>
                </a:solidFill>
                <a:latin typeface="Inter Tabular"/>
              </a:rPr>
              <a:t>Market &amp; Portfolio Report  |  August 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66928"/>
            <a:ext cx="11292840" cy="77724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spcAft>
                <a:spcPts val="800"/>
              </a:spcAft>
            </a:pPr>
            <a:r>
              <a:rPr sz="3000" b="1">
                <a:solidFill>
                  <a:srgbClr val="15324F"/>
                </a:solidFill>
                <a:latin typeface="Inter Tabular"/>
              </a:rPr>
              <a:t>Risks and what to monitor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371600"/>
            <a:ext cx="11292840" cy="18288"/>
          </a:xfrm>
          <a:prstGeom prst="rect">
            <a:avLst/>
          </a:prstGeom>
          <a:solidFill>
            <a:srgbClr val="E2E8F0"/>
          </a:solidFill>
          <a:ln w="9525">
            <a:solidFill>
              <a:srgbClr val="E2E8F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355080"/>
            <a:ext cx="104241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800"/>
              </a:spcAft>
            </a:pPr>
            <a:r>
              <a:rPr sz="1200" b="0">
                <a:solidFill>
                  <a:srgbClr val="475569"/>
                </a:solidFill>
                <a:latin typeface="Inter Tabular"/>
              </a:rPr>
              <a:t>Sources: [1] Yahoo Finance; [2] Bank of Canada Valet; [3] Bank of Canada; [4] Federal Reserve Board. Full references in the report.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355080"/>
            <a:ext cx="77724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spcAft>
                <a:spcPts val="800"/>
              </a:spcAft>
            </a:pPr>
            <a:r>
              <a:rPr sz="1200" b="0">
                <a:solidFill>
                  <a:srgbClr val="475569"/>
                </a:solidFill>
                <a:latin typeface="Inter Tabular"/>
              </a:rPr>
              <a:t>3 / 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554480"/>
            <a:ext cx="5486400" cy="4114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800"/>
              </a:spcAft>
            </a:pPr>
            <a:r>
              <a:rPr sz="2000" b="1">
                <a:solidFill>
                  <a:srgbClr val="15324F"/>
                </a:solidFill>
                <a:latin typeface="Inter Tabular"/>
              </a:rPr>
              <a:t>Downside risks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057400"/>
            <a:ext cx="5486400" cy="24688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 marL="256032" indent="-256032">
              <a:spcAft>
                <a:spcPts val="1200"/>
              </a:spcAft>
              <a:buChar char="•"/>
            </a:pPr>
            <a:r>
              <a:rPr sz="2000" b="0">
                <a:solidFill>
                  <a:srgbClr val="0F172A"/>
                </a:solidFill>
                <a:latin typeface="Inter Tabular"/>
              </a:rPr>
              <a:t>Higher yields hurt bonds and can weigh on equities</a:t>
            </a:r>
          </a:p>
          <a:p>
            <a:pPr algn="l" marL="256032" indent="-256032">
              <a:spcAft>
                <a:spcPts val="1200"/>
              </a:spcAft>
              <a:buChar char="•"/>
            </a:pPr>
            <a:r>
              <a:rPr sz="2000" b="0">
                <a:solidFill>
                  <a:srgbClr val="0F172A"/>
                </a:solidFill>
                <a:latin typeface="Inter Tabular"/>
              </a:rPr>
              <a:t>Currency moves are two-way on 40.0% of the portfolio</a:t>
            </a:r>
          </a:p>
          <a:p>
            <a:pPr algn="l" marL="256032" indent="-256032">
              <a:spcAft>
                <a:spcPts val="1200"/>
              </a:spcAft>
              <a:buChar char="•"/>
            </a:pPr>
            <a:r>
              <a:rPr sz="2000" b="0">
                <a:solidFill>
                  <a:srgbClr val="0F172A"/>
                </a:solidFill>
                <a:latin typeface="Inter Tabular"/>
              </a:rPr>
              <a:t>Policy and trade uncertainty flagged by the Bank of Canada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09360" y="1554480"/>
            <a:ext cx="5440680" cy="4114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800"/>
              </a:spcAft>
            </a:pPr>
            <a:r>
              <a:rPr sz="2000" b="1">
                <a:solidFill>
                  <a:srgbClr val="15324F"/>
                </a:solidFill>
                <a:latin typeface="Inter Tabular"/>
              </a:rPr>
              <a:t>What to monitor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09360" y="2057400"/>
            <a:ext cx="5440680" cy="24688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 marL="256032" indent="-256032">
              <a:spcAft>
                <a:spcPts val="1200"/>
              </a:spcAft>
              <a:buChar char="•"/>
            </a:pPr>
            <a:r>
              <a:rPr sz="2000" b="0">
                <a:solidFill>
                  <a:srgbClr val="0F172A"/>
                </a:solidFill>
                <a:latin typeface="Inter Tabular"/>
              </a:rPr>
              <a:t>Bank of Canada, Sep 2</a:t>
            </a:r>
          </a:p>
          <a:p>
            <a:pPr algn="l" marL="256032" indent="-256032">
              <a:spcAft>
                <a:spcPts val="1200"/>
              </a:spcAft>
              <a:buChar char="•"/>
            </a:pPr>
            <a:r>
              <a:rPr sz="2000" b="0">
                <a:solidFill>
                  <a:srgbClr val="0F172A"/>
                </a:solidFill>
                <a:latin typeface="Inter Tabular"/>
              </a:rPr>
              <a:t>FOMC, Sep 15-16</a:t>
            </a:r>
          </a:p>
          <a:p>
            <a:pPr algn="l" marL="256032" indent="-256032">
              <a:spcAft>
                <a:spcPts val="1200"/>
              </a:spcAft>
              <a:buChar char="•"/>
            </a:pPr>
            <a:r>
              <a:rPr sz="2000" b="0">
                <a:solidFill>
                  <a:srgbClr val="0F172A"/>
                </a:solidFill>
                <a:latin typeface="Inter Tabular"/>
              </a:rPr>
              <a:t>Canada yields and USD/CAD</a:t>
            </a:r>
          </a:p>
          <a:p>
            <a:pPr algn="l" marL="256032" indent="-256032">
              <a:spcAft>
                <a:spcPts val="1200"/>
              </a:spcAft>
              <a:buChar char="•"/>
            </a:pPr>
            <a:r>
              <a:rPr sz="2000" b="0">
                <a:solidFill>
                  <a:srgbClr val="0F172A"/>
                </a:solidFill>
                <a:latin typeface="Inter Tabular"/>
              </a:rPr>
              <a:t>Weight drift versus bands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7200" y="4892040"/>
            <a:ext cx="11292840" cy="128016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" y="4937760"/>
            <a:ext cx="10927080" cy="118872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1">
                <a:solidFill>
                  <a:srgbClr val="15324F"/>
                </a:solidFill>
                <a:latin typeface="Inter Tabular"/>
              </a:rPr>
              <a:t>Counterargument.  </a:t>
            </a:r>
            <a:r>
              <a:rPr sz="1700" b="0">
                <a:solidFill>
                  <a:srgbClr val="0F172A"/>
                </a:solidFill>
                <a:latin typeface="Inter Tabular"/>
              </a:rPr>
              <a:t>For acting: yields are rising, three FOMC members preferred a hike on July 29 [4], and bonds gave no cushion. For patience: drift is inside the bands and one month of yields is weak evidence of a trend.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Market &amp; Portfolio Report, August 2026: deck</dc:title>
  <dc:subject>Hypothetical portfolio; not investment advice</dc:subject>
  <dc:creator>Independent educational research sample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